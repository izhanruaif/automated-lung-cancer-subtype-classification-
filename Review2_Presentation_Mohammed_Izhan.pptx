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SWE3004 - SOFTWARE DESIGN &amp; DEVELOPMENT PROJECT (REVIEW-2)</a:t>
            </a:r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</a:defRPr>
            </a:pPr>
            <a:r>
              <a:t>Automated Lung Cancer Subtype Classification from CT Images using Deep CNNs and Attention Mechanisms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Student Name: Mohammed Izhan I  |  Register No: 22MIS0336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Under the Guidance of: Prof. AAMEER ARSHATH A (Assistant Professor)</a:t>
            </a:r>
          </a:p>
          <a:p>
            <a:pPr>
              <a:defRPr sz="1400">
                <a:solidFill>
                  <a:srgbClr val="0E7490"/>
                </a:solidFill>
              </a:defRPr>
            </a:pPr>
            <a:r>
              <a:t>Department of Software and Systems Engineering, SCORE, VIT Chennai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EXECUTIVE ABSTRACT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Executive Summary &amp; Project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Clinical Need in Thoracic Oncology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Lung cancer is a leading cause of global cancer mortality. Accurate differentiation between Adenocarcinoma (ADC), Squamous Cell Carcinoma (SCC), and Small Cell Lung Carcinoma (SCLC) is crucial for therapy.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Deep Learning &amp; Attention Novelty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Augmenting baseline ResNet-18 with Convolutional Block Attention Modules (CBAM) enables the model to selectively refine spatial nodule boundaries and diagnostic feature channels.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Explainable AI (XAI) &amp; Full-Stack Platform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Integrates Grad-CAM visual heatmaps for diagnostic transparency, wrapped inside a medical-grade web app (React frontend + FastAPI backend + Gemini AI Copilot).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Key Performance Metrics Achieved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Achieved 94.80% validation accuracy (+6.3% over baseline), sub-350ms total execution latency, and 100% PyTest backend pass 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CONTEXT &amp; JUSTIFICATION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Introduction &amp; Clinical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Computed Tomography (CT) Standardization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CT imaging is the primary non-invasive modality for assessing pulmonary nodules and suspicious tumor mass structures.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Histological Subtype Impact on Treatment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NSCLC (ADC, SCC) and SCLC demand vastly different chemotherapeutic regimens, surgical interventions, and prognostic tracking.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Diagnostic Inter-Observer Variability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Manual interpretation of large 3D CT volumes is time-consuming and subject to inter-observer variability among radiologists.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Goal of AI Assistive Decision Support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Empower clinicians with rapid, interpretable AI predictions that validate lesion margins without replacing expert clinical judgment.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RESEARCH PROBLEM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Problem Statement &amp; Clinical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Subtle Inter-Class Morphological Similarity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Adenocarcinoma and Squamous Cell Carcinoma exhibit high visual similarity on CT slices, leading to potential misclassification in early stages.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The 'Black-Box' Obstacle in Medical AI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Standard deep CNNs produce probability numbers without explaining the anatomical basis, causing low clinician trust.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Absence of Integrated Web Systems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Most research models exist strictly as offline Python scripts, lacking DICOM loading, patient record management, or web-based PACS viewports.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PROJECT GOALS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Project Objectives &amp; Key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1. Multi-Class Attention CNN Development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Train ResNet-18 + CBAM architecture for 3-class lung cancer subtype identification.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2. DICOM Hounsfield Unit Preprocessing Engine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Build automated rescaling pipeline (Level = -600 HU, Width = 1500 HU) to normalize raw CT scans.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3. Visual Explainability via Grad-CAM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Compute layer 4 spatial activations to output colormap heatmaps highlighting nodule regions of interest.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4. Full-Stack Dual-Cloud Deployment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Build FastAPI backend on Render, React UI on Vercel, and integrate Google Gemini 1.5 Flash AI Assistant.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SYSTEM SCOPE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System Scope (Functional &amp; Quality Boundaries)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Target Subtypes Covered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Adenocarcinoma (ADC), Squamous Cell Carcinoma (SCC), Small Cell Lung Carcinoma (SCLC).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Input &amp; Output Boundaries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Accepts DICOM (.dcm) and PNG/JPG CT images; outputs class probability breakdown, confidence score, and Grad-CAM overlay.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Performance &amp; Latency Limits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End-to-end slice inference latency strictly bound under 500ms (achieved ~320ms in production).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Security &amp; Data Integrity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Enforces JWT bearer token authorization, bcrypt password hashing, CORS middleware, and SQLite relational storage.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LITERATURE REVIEW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Literature Survey &amp; Comparative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79"/>
                <a:gridCol w="2072579"/>
                <a:gridCol w="2072579"/>
                <a:gridCol w="2072579"/>
                <a:gridCol w="2072579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Paper &amp; Author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Focus Area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Gaps Addressed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Haque et al.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Concatenated CNN + 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XAI &amp; Subtyping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93.10%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High computational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Özdemir et al. (2025)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InceptionNeXt Hybrid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Detection &amp; Features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92.40%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No web platform integration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Zhu et al.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Synthetic Pathological Priors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CT Subtyping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91.80%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Complex multi-stage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Ardila et al. (2019)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3D Deep CNN (Nature Med)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Screening &amp; Nodule Det.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94.40%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High VRAM demand, no subtyping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Proposed Work (2026)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ResNet-18 + CBAM + Grad-CAM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Subtyping, XAI &amp; Web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94.80%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Sub-350ms, deployed on Vercel/Render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METHODOLOGY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Overall System Methodology &amp;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Phase 1: DICOM Processing &amp; Windowing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Rescaling raw 16-bit CT pixel values to Hounsfield Units [-1350, +150 HU] and normalizing to Float32 arrays [0.0, 1.0].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Phase 2: Attention Feature Extraction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Passing (1, 3, 224, 224) tensors through ResNet-18 backbone with CBAM Channel &amp; Spatial attention blocks at Layers 3 &amp; 4.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Phase 3: Softmax Subtype Classification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Global average pooling and fully connected layer mapping to ADC, SCC, and SCLC probability distributions.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Phase 4: XAI Heatmap &amp; Web Presentation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Grad-CAM backward pass on layer4.1.conv2 to generate JET colormap overlay delivered via FastAPI REST endpoint to React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PREPROCESSING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Dataset Description &amp; DICOM HU Preprocessing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TCIA Lung-PET-CT-Dx Dataset Cohort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Utilized 355 pathologically confirmed subjects: Adenocarcinoma (251), Squamous Cell Carcinoma (61), Small Cell Lung Carcinoma (38), Large Cell Carcinoma (5).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Hounsfield Unit (HU) Transformation Math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HU = Pixel Value * Rescale Slope + Rescale Intercept. Standard lung windowing applies Level = -600 HU and Width = 1500 HU.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Data Augmentation &amp; Normalization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Resized to 224x224, applied 3-channel grayscale expansion, random rotations (+/- 15 deg), horizontal flipping, and intensity clipping.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DEEP LEARNING CORE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Deep CNN Architecture with CBAM Attention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ResNet-18 Backbone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Serves as feature extractor learning low-level edge primitives and high-level semantic tumor textures.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Channel Attention Sub-Module (Mc)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Employs AvgPool and MaxPool across spatial dimensions followed by shared MLP to highlight 'WHAT' feature channels carry tumor signals.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Spatial Attention Sub-Module (Ms)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Applies 7x7 convolution across channel-pooled feature maps to identify 'WHERE' lesion boundaries are located.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Sequential CBAM Integration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F' = Mc(F) (*) F ; F'' = Ms(F') (*) F'. Refined feature maps are passed to multi-class Softmax classifier.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EXPLAINABILITY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Explainable AI (XAI) Engine via Grad-CAM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Grad-CAM Activation Weight Calculation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Computes gradients of target predicted class score y^c with respect to feature maps A^k of target layer (layer4.1.conv2).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Heatmap Generation Formulation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L_Grad-CAM = ReLU( sum( alpha_k^c * A^k ) ). ReLU filters out negative non-contributing features.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Visual Overlay Synthesis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Resizes heatmaps to 224x224, applies JET colormap, masks outer 20px edge artifacts, and blends over original CT scan (alpha = 0.55).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Radiological Value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Ensures clinicians can verify if the AI focuses on true nodule tissue rather than background thoracic structures.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SYSTEM DESIGN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UML Use Case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dia_17913305793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554480"/>
            <a:ext cx="600535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CLASS ARCHITECTURE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UML Class Diagram &amp; Object-Oriented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DICOMService Module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Handles DICOM loading, HU transformation, synthetic CT generation, and intensity clipping.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AttentionCNN &amp; CBAM Classes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Encapsulates ChannelAttention, SpatialAttention, CBAMModule, and ResNet-18 backbone.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AIService Singleton Controller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Thread-safe singleton class maintaining PyTorch model instance, CUDA/CPU device, and Grad-CAM hooks.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FastAPI &amp; React Integration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FastAPIApp routing controllers invoke AIService and GeminiChatService to deliver JSON responses to React UI.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SYSTEM ARCHITECTURE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4-Layer System 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dia_17913306173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600535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EVALUATION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Experimental Validation &amp; Model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149"/>
                <a:gridCol w="1727149"/>
                <a:gridCol w="1727149"/>
                <a:gridCol w="1727149"/>
                <a:gridCol w="1727149"/>
                <a:gridCol w="1727150"/>
              </a:tblGrid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 Variant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Baseline ResNet-18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88.50%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87.90%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88.10%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88.00%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180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ResNet-18 + Channel Attn.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91.20%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90.80%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91.00%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90.90%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240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ResNet-18 + Spatial Attn.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90.60%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90.40%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90.25%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230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ResNet-18 + CBAM (Proposed)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94.80%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94.20%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94.50%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94.34%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320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TECH STACK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Software &amp; Hardware Specifications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Deep Learning &amp; Vision Stack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Python 3.12, PyTorch 2.2, TorchVision, OpenCV (cv2), PyDICOM, NumPy, Pandas.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Backend API &amp; Cloud Hosting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FastAPI (ASGI), Uvicorn, Pydantic schemas, SQLAlchemy ORM, SQLite database, Render Cloud.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Frontend Workstation UI Stack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React 18, TypeScript, Vite, Tailwind CSS, Recharts SVG graphics, Vercel Edge Network.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Generative AI &amp; Development IDE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Google Gemini 1.5 Flash API (Clinical Copilot), VS Code, Antigravity IDE, PyTest suite.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IMPLEMENTATION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Implementation Details &amp; Core Code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AI Inference Engine (ai_service.py)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Executes PyTorch forward pass, computes Softmax probabilities, and maps argmax class indices.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Grad-CAM Hook Handler (gradcam.py)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Registers forward and backward gradient hooks on target activation layer layer4.1.conv2.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Gemini Clinical Chatbot Route (chat.py)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Asynchronous REST route querying Gemini 1.5 Flash with clinical prompt context and local fallback rule engine.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React PACS Viewport (GradCamViewer.tsx)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Renders interactive original CT vs Grad-CAM heatmap overlay with opacity sliders (10%-100%) and zoom controls.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QUALITY ASSURANCE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Testing Strategies &amp; Verification Suite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Automated PyTest Test Suite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All 18 automated backend unit and integration test cases passed cleanly with zero errors.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Unit Testing Scope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Verified DICOM HU intensity rescaling, PyTorch tensor output shapes (1, 3, 224, 224), and JWT bcrypt token hashing.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Integration &amp; Endpoint Testing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Tested REST endpoints (/predictions, /patients, /reports, /chat) using Starlette TestClient.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Security &amp; Build Verification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Confirmed CORS origin rules, HTTP 401 unauthorized protection, and clean production Vite frontend compilation.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DELIVERABLES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Demonstration of System Deliverables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Live Workstation Web UI (Vercel)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Features doctor sign-in, patient directory, CT drag-and-drop dropzone, and probability bar charts.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Production REST API (Render)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OpenAPI/Swagger interactive documentation (/docs) managing predictions, reports, and chatbot queries.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Oncology Clinical AI Copilot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Integrated LLM assistant answering diagnostic queries regarding confidence scores, IHC stains (TTF-1, p40), and treatment options.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Calibri"/>
              </a:defRPr>
            </a:pPr>
            <a:r>
              <a:t>CONCLUSION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Conclusion &amp; Review-3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Review-2 Accomplishments Completed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Successfully built, validated, and deployed an attention-guided deep learning classifier achieving 94.80% accuracy.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Review-3 Enhancement 1: 3D Volumetric CT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Extend 2D slice classification to 3D CT volume aggregation using 3D CNNs / Vision Transformers.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Review-3 Enhancement 2: Multi-Center Trial Data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Validate model generalization across external healthcare repositories (LIDC-IDRI, TCIA).</a:t>
            </a:r>
          </a:p>
          <a:p>
            <a:pPr>
              <a:spcBef>
                <a:spcPts val="1000"/>
              </a:spcBef>
              <a:defRPr sz="1800" b="1">
                <a:solidFill>
                  <a:srgbClr val="0F172A"/>
                </a:solidFill>
              </a:defRPr>
            </a:pPr>
            <a:r>
              <a:t>Review-3 Enhancement 3: Automated PDF Export</a:t>
            </a:r>
          </a:p>
          <a:p>
            <a:pPr lvl="1">
              <a:defRPr sz="1500">
                <a:solidFill>
                  <a:srgbClr val="1E293B"/>
                </a:solidFill>
              </a:defRPr>
            </a:pPr>
            <a:r>
              <a:t>Generate downloadable clinical PDF reports with structured patient metadata and XAI heatmap overlays.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